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3" name="Text 1"/>
          <p:cNvSpPr/>
          <p:nvPr/>
        </p:nvSpPr>
        <p:spPr>
          <a:xfrm>
            <a:off x="1280160" y="8229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MINISTERUL EDUCAȚIEI ȘI CERCETĂRII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80160" y="11430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UNIVERSITATEA TEHNICĂ A MOLDOVEI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280160" y="1554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Facultatea Calculatoare, Informatică și Microelectronică · Specialitatea Tehnologia Informației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280160" y="25603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Aplicarea pattern-urilor GoF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1280160" y="33832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E639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în platforma de comerț electronic Kinder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280160" y="4389120"/>
            <a:ext cx="2743200" cy="27432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9" name="Text 7"/>
          <p:cNvSpPr/>
          <p:nvPr/>
        </p:nvSpPr>
        <p:spPr>
          <a:xfrm>
            <a:off x="1280160" y="46634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Autor: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Chircu Mihail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gr. TI-235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80160" y="5029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Conducător: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lect. univ. Mihai Musteață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80160" y="6035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Chișinău ·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Kinder · Pattern-urile GoF ·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Aceleași probleme, aceleași soluții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de soluții reutilizabile, catalogate de Gang of Four (1994), pentru probleme recurente în programarea orientată pe obiect.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10908792" cy="18288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834640"/>
            <a:ext cx="3331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i="1" dirty="0">
                <a:solidFill>
                  <a:srgbClr val="E639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40080" y="3749040"/>
            <a:ext cx="3331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Creaționale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4251960"/>
            <a:ext cx="3331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Instanțiere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4937760"/>
            <a:ext cx="3331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pattern-uri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428744" y="2834640"/>
            <a:ext cx="3331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i="1" dirty="0">
                <a:solidFill>
                  <a:srgbClr val="E639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4428744" y="3749040"/>
            <a:ext cx="3331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Structurale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428744" y="4251960"/>
            <a:ext cx="3331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Compunere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428744" y="4937760"/>
            <a:ext cx="3331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pattern-uri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17408" y="2834640"/>
            <a:ext cx="3331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i="1" dirty="0">
                <a:solidFill>
                  <a:srgbClr val="E639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III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8217408" y="3749040"/>
            <a:ext cx="3331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Comportamentale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217408" y="4251960"/>
            <a:ext cx="3331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Responsabilități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217408" y="4937760"/>
            <a:ext cx="3331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pattern-uri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Chircu Mihail · gr. TI-235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3447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Kinder · Pattern-urile GoF ·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Kinder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Magazin online de jucării din Leova, Republica Moldova</a:t>
            </a:r>
            <a:endParaRPr lang="en-US" sz="1400" dirty="0"/>
          </a:p>
        </p:txBody>
      </p:sp>
      <p:pic>
        <p:nvPicPr>
          <p:cNvPr id="5" name="Image 0" descr="/Users/michael/UTM/lab TMPPP/proiect final/.claude/worktrees/beautiful-davinci-19868f/.playwright-mcp/screenshots/01-ho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194560"/>
            <a:ext cx="6766560" cy="40233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80960" y="2286000"/>
            <a:ext cx="3867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TEHNOLOGIC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680960" y="2697480"/>
            <a:ext cx="3867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PHP 8.2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680960" y="3026664"/>
            <a:ext cx="3867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Laravel 11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680960" y="3355848"/>
            <a:ext cx="3867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SQLite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7680960" y="3685032"/>
            <a:ext cx="3867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Tailwind CSS 3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7680960" y="4014216"/>
            <a:ext cx="3867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Vite · Blade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7680960" y="4572000"/>
            <a:ext cx="1371600" cy="18288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13" name="Text 10"/>
          <p:cNvSpPr/>
          <p:nvPr/>
        </p:nvSpPr>
        <p:spPr>
          <a:xfrm>
            <a:off x="7680960" y="4754880"/>
            <a:ext cx="3867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 COMPLET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680960" y="5074920"/>
            <a:ext cx="3867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 → coș cu undo → checkout → plată → notificări → panou admin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Chircu Mihail · gr. TI-235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063447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Kinder · Pattern-urile GoF ·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Proiectul în cifre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Scară și amploare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10908792" cy="18288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743200"/>
            <a:ext cx="23842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E639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640080" y="4206240"/>
            <a:ext cx="23842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pattern-uri GoF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4663440"/>
            <a:ext cx="23842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24  ·  +1 Singleton (Laravel)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481578" y="2743200"/>
            <a:ext cx="23842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E639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4·5·6</a:t>
            </a:r>
            <a:endParaRPr lang="en-US" sz="6400" dirty="0"/>
          </a:p>
        </p:txBody>
      </p:sp>
      <p:sp>
        <p:nvSpPr>
          <p:cNvPr id="10" name="Text 8"/>
          <p:cNvSpPr/>
          <p:nvPr/>
        </p:nvSpPr>
        <p:spPr>
          <a:xfrm>
            <a:off x="3481578" y="4206240"/>
            <a:ext cx="23842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Creațional · Structural · Comportamental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81578" y="4663440"/>
            <a:ext cx="23842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echilibrate pe familii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23076" y="2743200"/>
            <a:ext cx="23842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E639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559</a:t>
            </a:r>
            <a:endParaRPr lang="en-US" sz="6400" dirty="0"/>
          </a:p>
        </p:txBody>
      </p:sp>
      <p:sp>
        <p:nvSpPr>
          <p:cNvPr id="13" name="Text 11"/>
          <p:cNvSpPr/>
          <p:nvPr/>
        </p:nvSpPr>
        <p:spPr>
          <a:xfrm>
            <a:off x="6323076" y="4206240"/>
            <a:ext cx="23842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produse în catalog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323076" y="4663440"/>
            <a:ext cx="23842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64574" y="2743200"/>
            <a:ext cx="23842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E639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+5</a:t>
            </a:r>
            <a:endParaRPr lang="en-US" sz="6400" dirty="0"/>
          </a:p>
        </p:txBody>
      </p:sp>
      <p:sp>
        <p:nvSpPr>
          <p:cNvPr id="16" name="Text 14"/>
          <p:cNvSpPr/>
          <p:nvPr/>
        </p:nvSpPr>
        <p:spPr>
          <a:xfrm>
            <a:off x="9164574" y="4206240"/>
            <a:ext cx="23842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peste minimul cerut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164574" y="4663440"/>
            <a:ext cx="23842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585216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Toate cele 15 pattern-uri rezolvă probleme reale ale domeniului, nu sunt incluse pentru a bifa o listă.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Chircu Mihail · gr. TI-235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63447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Kinder · Pattern-urile GoF ·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Creaționale · 4 pattern-uri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Instanțierea obiectelor complexe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10908792" cy="18288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980944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639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371600" y="2980944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Builder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663440" y="2980944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Construcția pas cu pas a comenzii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601200" y="2980944"/>
            <a:ext cx="1947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OrderBuilder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3630168"/>
            <a:ext cx="10908792" cy="4572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639312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639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371600" y="3639312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Prototype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663440" y="3639312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Clonare produs din admin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601200" y="3639312"/>
            <a:ext cx="1947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Product::clonePrototype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4288536"/>
            <a:ext cx="10908792" cy="4572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4297680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639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371600" y="429768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Factory Method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663440" y="4297680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Crearea metodelor de livrare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601200" y="4297680"/>
            <a:ext cx="1947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Shipping\Methods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946904"/>
            <a:ext cx="10908792" cy="4572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4956048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639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371600" y="4956048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Abstract Factory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4663440" y="4956048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Familii de notificări per canal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601200" y="4956048"/>
            <a:ext cx="1947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Notifications\Channels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Chircu Mihail · gr. TI-235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63447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Kinder · Pattern-urile GoF ·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Structurale · 5 pattern-uri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Compunerea obiectelor în structuri mai mari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10908792" cy="18288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651760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639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371600" y="265176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Facade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663440" y="2651760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Orchestrare checkout într-un singur apel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601200" y="2651760"/>
            <a:ext cx="1947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CheckoutFacade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3300984"/>
            <a:ext cx="10908792" cy="4572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310128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639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371600" y="3310128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Decorator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663440" y="3310128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Preț compozabil (discount, taxă, gift-wrap)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601200" y="3310128"/>
            <a:ext cx="1947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Pricing\*Decorator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959352"/>
            <a:ext cx="10908792" cy="4572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968496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639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371600" y="3968496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Adapter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663440" y="3968496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Gateway-uri de plată cu API-uri diferite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601200" y="3968496"/>
            <a:ext cx="1947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Payment\Adapters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617720"/>
            <a:ext cx="10908792" cy="4572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4626864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639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371600" y="4626864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Proxy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4663440" y="4626864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Caching transparent pentru produse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601200" y="4626864"/>
            <a:ext cx="1947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CachingProductProxy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080" y="5276088"/>
            <a:ext cx="10908792" cy="4572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5285232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639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1371600" y="5285232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Composite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4663440" y="5285232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Arbore de categorii cu subcategorii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9601200" y="5285232"/>
            <a:ext cx="1947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Models\Category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Chircu Mihail · gr. TI-235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63447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Kinder · Pattern-urile GoF ·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Comportamentale · 6 pattern-uri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Distribuirea responsabilităților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10908792" cy="18288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468880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639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371600" y="246888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Strategy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663440" y="2468880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Sortare catalog (preț / nume / popular)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601200" y="2468880"/>
            <a:ext cx="1947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Catalog\Strategies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3118104"/>
            <a:ext cx="10908792" cy="4572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127248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639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371600" y="3127248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663440" y="3127248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Mașină de stări pentru ciclul comenzii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601200" y="3127248"/>
            <a:ext cx="1947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OrderState\States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776472"/>
            <a:ext cx="10908792" cy="4572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785616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639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371600" y="3785616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Command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663440" y="3785616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Acțiuni pe coș cu undo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601200" y="3785616"/>
            <a:ext cx="1947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Cart\Commands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434840"/>
            <a:ext cx="10908792" cy="4572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4443984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639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371600" y="4443984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Chain of Resp.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4663440" y="4443984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Validare checkout în pipeline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601200" y="4443984"/>
            <a:ext cx="1947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Validation\Handlers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080" y="5093208"/>
            <a:ext cx="10908792" cy="4572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5102352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639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1371600" y="5102352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Template Method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4663440" y="5102352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comenzi CSV / JSON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9601200" y="5102352"/>
            <a:ext cx="1947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OrderExportTemplate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5751576"/>
            <a:ext cx="10908792" cy="4572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5760720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639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1371600" y="576072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Observer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4663440" y="5760720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Reacții post-comandă (dashboard, log, email)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9601200" y="5760720"/>
            <a:ext cx="1947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OrderPlaced + Listeners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Chircu Mihail · gr. TI-235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63447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Kinder · Pattern-urile GoF ·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Spotlight · Abstract Factory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Familii consistente de notificări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10908792" cy="18288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2860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265176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tipuri de notificări (confirmare, status, expediere) × 3 canale (Email, SMS, Push) = 9 implementări care trebuie să se potrivească între ele.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3749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Soluția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411480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fabrică pentru fiecare canal. O singură alegere — canalul — produce o familie completă de notificări tunate per canal.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309360" y="2377440"/>
            <a:ext cx="13098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619238" y="2377440"/>
            <a:ext cx="13098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929116" y="2377440"/>
            <a:ext cx="13098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238994" y="2377440"/>
            <a:ext cx="13098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09360" y="3017520"/>
            <a:ext cx="13098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Confirmare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710678" y="3108960"/>
            <a:ext cx="1126998" cy="457200"/>
          </a:xfrm>
          <a:prstGeom prst="rect">
            <a:avLst/>
          </a:prstGeom>
          <a:solidFill>
            <a:srgbClr val="FFE5E8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10678" y="3108960"/>
            <a:ext cx="1126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020556" y="3108960"/>
            <a:ext cx="1126998" cy="457200"/>
          </a:xfrm>
          <a:prstGeom prst="rect">
            <a:avLst/>
          </a:prstGeom>
          <a:solidFill>
            <a:srgbClr val="FFE5E8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20556" y="3108960"/>
            <a:ext cx="1126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0330434" y="3108960"/>
            <a:ext cx="1126998" cy="457200"/>
          </a:xfrm>
          <a:prstGeom prst="rect">
            <a:avLst/>
          </a:prstGeom>
          <a:solidFill>
            <a:srgbClr val="FFE5E8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330434" y="3108960"/>
            <a:ext cx="1126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309360" y="3657600"/>
            <a:ext cx="13098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status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710678" y="3749040"/>
            <a:ext cx="1126998" cy="457200"/>
          </a:xfrm>
          <a:prstGeom prst="rect">
            <a:avLst/>
          </a:prstGeom>
          <a:solidFill>
            <a:srgbClr val="FFE5E8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10678" y="3749040"/>
            <a:ext cx="1126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9020556" y="3749040"/>
            <a:ext cx="1126998" cy="457200"/>
          </a:xfrm>
          <a:prstGeom prst="rect">
            <a:avLst/>
          </a:prstGeom>
          <a:solidFill>
            <a:srgbClr val="FFE5E8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020556" y="3749040"/>
            <a:ext cx="1126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0330434" y="3749040"/>
            <a:ext cx="1126998" cy="457200"/>
          </a:xfrm>
          <a:prstGeom prst="rect">
            <a:avLst/>
          </a:prstGeom>
          <a:solidFill>
            <a:srgbClr val="FFE5E8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330434" y="3749040"/>
            <a:ext cx="1126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309360" y="4297680"/>
            <a:ext cx="13098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Expediere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710678" y="4389120"/>
            <a:ext cx="1126998" cy="457200"/>
          </a:xfrm>
          <a:prstGeom prst="rect">
            <a:avLst/>
          </a:prstGeom>
          <a:solidFill>
            <a:srgbClr val="FFE5E8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10678" y="4389120"/>
            <a:ext cx="1126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9020556" y="4389120"/>
            <a:ext cx="1126998" cy="457200"/>
          </a:xfrm>
          <a:prstGeom prst="rect">
            <a:avLst/>
          </a:prstGeom>
          <a:solidFill>
            <a:srgbClr val="FFE5E8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020556" y="4389120"/>
            <a:ext cx="1126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0330434" y="4389120"/>
            <a:ext cx="1126998" cy="457200"/>
          </a:xfrm>
          <a:prstGeom prst="rect">
            <a:avLst/>
          </a:prstGeom>
          <a:solidFill>
            <a:srgbClr val="FFE5E8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330434" y="4389120"/>
            <a:ext cx="1126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6309360" y="5074920"/>
            <a:ext cx="5239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implementări, 3 fabrici, o singură familie consistentă per canal.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Chircu Mihail · gr. TI-235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63447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Kinder · Pattern-urile GoF ·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Extensibilitate fără modificare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Principiul Open/Closed, demonstrat practic prin extinderi adăugate ulterior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10908792" cy="18288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468880"/>
            <a:ext cx="50886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treilea canal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2880360"/>
            <a:ext cx="50886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Push Notifications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40080" y="3383280"/>
            <a:ext cx="50886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 Factory extins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3931920"/>
            <a:ext cx="508863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Adăugarea unui canal nou (Push) peste cele existente (Email, SMS) — 3 clase noi, zero modificări la codul existent.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5212080"/>
            <a:ext cx="5088636" cy="457200"/>
          </a:xfrm>
          <a:prstGeom prst="rect">
            <a:avLst/>
          </a:prstGeom>
          <a:solidFill>
            <a:srgbClr val="FFE5E8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5257800"/>
            <a:ext cx="47228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PushNotificationFactory + 3 notificări concrete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60236" y="2468880"/>
            <a:ext cx="50886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patrulea validator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0236" y="2880360"/>
            <a:ext cx="50886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DiscountValidationHandler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60236" y="3383280"/>
            <a:ext cx="50886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of Responsibility extins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60236" y="3931920"/>
            <a:ext cx="508863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Validare nouă (coduri discount expirate / inactive) injectată în pipeline. O clasă, o linie de configurare.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60236" y="5212080"/>
            <a:ext cx="5088636" cy="457200"/>
          </a:xfrm>
          <a:prstGeom prst="rect">
            <a:avLst/>
          </a:prstGeom>
          <a:solidFill>
            <a:srgbClr val="FFE5E8"/>
          </a:solidFill>
          <a:ln/>
        </p:spPr>
      </p:sp>
      <p:sp>
        <p:nvSpPr>
          <p:cNvPr id="17" name="Text 15"/>
          <p:cNvSpPr/>
          <p:nvPr/>
        </p:nvSpPr>
        <p:spPr>
          <a:xfrm>
            <a:off x="6643116" y="5257800"/>
            <a:ext cx="47228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DiscountValidationHandler + 1 linie în pipeline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Chircu Mihail · gr. TI-235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63447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Kinder · Pattern-urile GoF ·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Kinder în funcțiune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· Admin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10908792" cy="18288"/>
          </a:xfrm>
          <a:prstGeom prst="rect">
            <a:avLst/>
          </a:prstGeom>
          <a:solidFill>
            <a:srgbClr val="E5E5E5"/>
          </a:solidFill>
          <a:ln/>
        </p:spPr>
      </p:sp>
      <p:pic>
        <p:nvPicPr>
          <p:cNvPr id="6" name="Image 0" descr="/Users/michael/UTM/lab TMPPP/proiect final/.claude/worktrees/beautiful-davinci-19868f/.playwright-mcp/screenshots/02-catalo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286000"/>
            <a:ext cx="3453384" cy="2743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166360"/>
            <a:ext cx="3453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Catalog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40080" y="5532120"/>
            <a:ext cx="3453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559 produse, filtre, sortare strategică</a:t>
            </a:r>
            <a:endParaRPr lang="en-US" sz="1100" dirty="0"/>
          </a:p>
        </p:txBody>
      </p:sp>
      <p:pic>
        <p:nvPicPr>
          <p:cNvPr id="9" name="Image 1" descr="/Users/michael/UTM/lab TMPPP/proiect final/.claude/worktrees/beautiful-davinci-19868f/.playwright-mcp/screenshots/04-car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367784" y="2286000"/>
            <a:ext cx="3453384" cy="2743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367784" y="5166360"/>
            <a:ext cx="3453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Coș cu undo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4367784" y="5532120"/>
            <a:ext cx="3453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pattern · Anulează ultima operație</a:t>
            </a:r>
            <a:endParaRPr lang="en-US" sz="1100" dirty="0"/>
          </a:p>
        </p:txBody>
      </p:sp>
      <p:pic>
        <p:nvPicPr>
          <p:cNvPr id="12" name="Image 2" descr="/Users/michael/UTM/lab TMPPP/proiect final/.claude/worktrees/beautiful-davinci-19868f/.playwright-mcp/screenshots/06-admin-dashboar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95488" y="2286000"/>
            <a:ext cx="3453384" cy="27432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8095488" y="5166360"/>
            <a:ext cx="3453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Panou admin</a:t>
            </a:r>
            <a:endParaRPr lang="en-US" sz="1700" dirty="0"/>
          </a:p>
        </p:txBody>
      </p:sp>
      <p:sp>
        <p:nvSpPr>
          <p:cNvPr id="14" name="Text 9"/>
          <p:cNvSpPr/>
          <p:nvPr/>
        </p:nvSpPr>
        <p:spPr>
          <a:xfrm>
            <a:off x="8095488" y="5532120"/>
            <a:ext cx="3453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Observer · low-stock + recent orders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Chircu Mihail · gr. TI-235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1063447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Kinder · Pattern-urile GoF ·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Concluzii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908792" cy="18288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10312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i="1" dirty="0">
                <a:solidFill>
                  <a:srgbClr val="E639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1645920" y="2103120"/>
            <a:ext cx="9902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 pattern-uri implementate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2606040"/>
            <a:ext cx="9902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Fiecare pattern a fost selectat pentru o problemă concretă a domeniului — magazin online de jucării — nu pentru a bifa o listă academică.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352044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i="1" dirty="0">
                <a:solidFill>
                  <a:srgbClr val="E639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5600" dirty="0"/>
          </a:p>
        </p:txBody>
      </p:sp>
      <p:sp>
        <p:nvSpPr>
          <p:cNvPr id="9" name="Text 7"/>
          <p:cNvSpPr/>
          <p:nvPr/>
        </p:nvSpPr>
        <p:spPr>
          <a:xfrm>
            <a:off x="1645920" y="3520440"/>
            <a:ext cx="9902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SOLID respectat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645920" y="4023360"/>
            <a:ext cx="9902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Principiul Open/Closed demonstrat practic prin două extinderi adăugate după finalizarea inițială, fără modificări la cod existent.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493776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i="1" dirty="0">
                <a:solidFill>
                  <a:srgbClr val="E639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5600" dirty="0"/>
          </a:p>
        </p:txBody>
      </p:sp>
      <p:sp>
        <p:nvSpPr>
          <p:cNvPr id="12" name="Text 10"/>
          <p:cNvSpPr/>
          <p:nvPr/>
        </p:nvSpPr>
        <p:spPr>
          <a:xfrm>
            <a:off x="1645920" y="4937760"/>
            <a:ext cx="9902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Arhitectură scalabilă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645920" y="5440680"/>
            <a:ext cx="9902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Validată prin PushNotificationFactory (al treilea canal) și DiscountValidationHandler (al patrulea validator) — costul extinderii: o clasă.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Chircu Mihail · gr. TI-235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63447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731752" y="0"/>
            <a:ext cx="457200" cy="685800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0"/>
            <a:ext cx="108173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Mulțumesc!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457200" y="3657600"/>
            <a:ext cx="1081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E639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Întrebări?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180076" y="4754880"/>
            <a:ext cx="1828800" cy="18288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5029200"/>
            <a:ext cx="10817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github.com/mihail-chircu/TMPPP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5486400"/>
            <a:ext cx="10817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Chircu Mihail  ·  gr. TI-235  ·  UTM 2026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Kinder — Aplicarea pattern-urilor GoF</dc:title>
  <dc:subject>PptxGenJS Presentation</dc:subject>
  <dc:creator>Chircu Mihail</dc:creator>
  <cp:lastModifiedBy>Chircu Mihail</cp:lastModifiedBy>
  <cp:revision>1</cp:revision>
  <dcterms:created xsi:type="dcterms:W3CDTF">2026-05-13T11:16:32Z</dcterms:created>
  <dcterms:modified xsi:type="dcterms:W3CDTF">2026-05-13T11:16:32Z</dcterms:modified>
</cp:coreProperties>
</file>